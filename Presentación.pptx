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60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0692"/>
            <a:ext cx="9144000" cy="2187001"/>
          </a:xfrm>
        </p:spPr>
        <p:txBody>
          <a:bodyPr>
            <a:normAutofit fontScale="90000"/>
          </a:bodyPr>
          <a:lstStyle/>
          <a:p>
            <a:r>
              <a:rPr lang="en-US"/>
              <a:t>‘Gwent-Pro’ 2024</a:t>
            </a:r>
            <a:br>
              <a:rPr lang="en-US"/>
            </a:br>
            <a:r>
              <a:rPr lang="en-US"/>
              <a:t>Cuba en guerra: 1958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4001453"/>
            <a:ext cx="9144000" cy="1655762"/>
          </a:xfrm>
        </p:spPr>
        <p:txBody>
          <a:bodyPr/>
          <a:lstStyle/>
          <a:p>
            <a:r>
              <a:rPr lang="en-US" sz="3200">
                <a:sym typeface="+mn-ea"/>
              </a:rPr>
              <a:t>Sebastian González Alfonso C121 </a:t>
            </a:r>
            <a:endParaRPr lang="en-US" sz="3200">
              <a:sym typeface="+mn-ea"/>
            </a:endParaRPr>
          </a:p>
          <a:p>
            <a:r>
              <a:rPr lang="en-US" sz="3200"/>
              <a:t>MATCOM</a:t>
            </a:r>
            <a:endParaRPr 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MX" altLang="en-US"/>
              <a:t>Ambientación:</a:t>
            </a:r>
            <a:endParaRPr lang="es-MX" altLang="en-US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47700" y="1470660"/>
            <a:ext cx="10515600" cy="1877695"/>
          </a:xfrm>
        </p:spPr>
        <p:txBody>
          <a:bodyPr>
            <a:normAutofit fontScale="90000" lnSpcReduction="10000"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MX"/>
              <a:t>G</a:t>
            </a:r>
            <a:r>
              <a:rPr lang="es-MX" altLang="en-US"/>
              <a:t>uerra revolucionaria de la década de 1950</a:t>
            </a:r>
            <a:endParaRPr lang="es-MX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MX"/>
              <a:t>Escena: choza en un monte</a:t>
            </a:r>
            <a:endParaRPr lang="en-US" altLang="es-MX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MX"/>
              <a:t>Jugadores: Fidel y Batista</a:t>
            </a:r>
            <a:endParaRPr lang="en-US" altLang="es-MX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MX"/>
              <a:t>Música de la época</a:t>
            </a:r>
            <a:endParaRPr lang="en-US" altLang="es-MX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s-MX"/>
          </a:p>
        </p:txBody>
      </p:sp>
      <p:sp>
        <p:nvSpPr>
          <p:cNvPr id="4" name="Título 1"/>
          <p:cNvSpPr>
            <a:spLocks noGrp="1"/>
          </p:cNvSpPr>
          <p:nvPr/>
        </p:nvSpPr>
        <p:spPr>
          <a:xfrm>
            <a:off x="774700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es-MX"/>
              <a:t>Contexto histórico</a:t>
            </a:r>
            <a:r>
              <a:rPr lang="es-MX" altLang="en-US"/>
              <a:t>:</a:t>
            </a:r>
            <a:endParaRPr lang="es-MX" altLang="en-US"/>
          </a:p>
        </p:txBody>
      </p:sp>
      <p:sp>
        <p:nvSpPr>
          <p:cNvPr id="5" name="Marcador de posición de contenido 2"/>
          <p:cNvSpPr>
            <a:spLocks noGrp="1"/>
          </p:cNvSpPr>
          <p:nvPr/>
        </p:nvSpPr>
        <p:spPr>
          <a:xfrm>
            <a:off x="774700" y="4641215"/>
            <a:ext cx="10515600" cy="1660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Golpe de Estado de Batista</a:t>
            </a:r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Inicio de la guerra revolucionaria</a:t>
            </a:r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Ofensiva de verano de la tiranía 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65705" y="2766060"/>
            <a:ext cx="7259955" cy="1325880"/>
          </a:xfrm>
        </p:spPr>
        <p:txBody>
          <a:bodyPr>
            <a:noAutofit/>
          </a:bodyPr>
          <a:p>
            <a:r>
              <a:rPr lang="en-US" altLang="es-MX" sz="5400"/>
              <a:t>Nuevas funcionalidades:</a:t>
            </a:r>
            <a:endParaRPr lang="en-US" altLang="es-MX" sz="5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7700" y="285750"/>
            <a:ext cx="10515600" cy="1325563"/>
          </a:xfrm>
        </p:spPr>
        <p:txBody>
          <a:bodyPr/>
          <a:p>
            <a:r>
              <a:rPr lang="en-US" altLang="es-MX"/>
              <a:t>Deshacer jugadas:</a:t>
            </a:r>
            <a:endParaRPr lang="en-U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93090" y="1611630"/>
            <a:ext cx="10515600" cy="4933950"/>
          </a:xfrm>
        </p:spPr>
        <p:txBody>
          <a:bodyPr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MX" sz="3200"/>
              <a:t>P</a:t>
            </a:r>
            <a:r>
              <a:rPr lang="es-MX" altLang="en-US" sz="3200"/>
              <a:t>ermite al usuario revertir la jugada realizada en su presente turno, antes de terminarlo.</a:t>
            </a:r>
            <a:endParaRPr lang="es-MX" alt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MX" sz="3200"/>
              <a:t>Implementación:</a:t>
            </a:r>
            <a:endParaRPr lang="en-US" altLang="es-MX" sz="3200"/>
          </a:p>
          <a:p>
            <a:pPr marL="457200" indent="-457200" algn="just">
              <a:buFont typeface="Wingdings" panose="05000000000000000000" charset="0"/>
              <a:buChar char="ü"/>
            </a:pPr>
            <a:r>
              <a:rPr lang="en-US" altLang="es-MX" sz="3200">
                <a:sym typeface="+mn-ea"/>
              </a:rPr>
              <a:t>C</a:t>
            </a:r>
            <a:r>
              <a:rPr lang="es-MX" altLang="en-US" sz="3200">
                <a:sym typeface="+mn-ea"/>
              </a:rPr>
              <a:t>lase abstracta Operation a partir de la cual se extendieron los diversos tipos de operaciones que pueden darse durante un turno.</a:t>
            </a:r>
            <a:endParaRPr lang="es-MX" altLang="en-US" sz="3200">
              <a:sym typeface="+mn-ea"/>
            </a:endParaRPr>
          </a:p>
          <a:p>
            <a:pPr marL="457200" indent="-457200" algn="just">
              <a:buFont typeface="Wingdings" panose="05000000000000000000" charset="0"/>
              <a:buChar char="ü"/>
            </a:pPr>
            <a:r>
              <a:rPr lang="es-MX" altLang="en-US" sz="3200">
                <a:sym typeface="+mn-ea"/>
              </a:rPr>
              <a:t> Cada turno se representó como una pila (stack) de Operation, y para deshacerlo, se procede a extraer la ultima operación realizada y a llamar a su método Remove hasta que quede vacía la pila.</a:t>
            </a:r>
            <a:endParaRPr lang="es-MX" altLang="en-US" sz="32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s-MX"/>
              <a:t>Jugador virtual:</a:t>
            </a:r>
            <a:endParaRPr lang="en-U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47700" y="1584325"/>
            <a:ext cx="10515600" cy="4351338"/>
          </a:xfrm>
        </p:spPr>
        <p:txBody>
          <a:bodyPr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s-MX"/>
              <a:t>A</a:t>
            </a:r>
            <a:r>
              <a:rPr lang="es-MX" altLang="en-US"/>
              <a:t>lgoritmo recursivo (método MyPlay) que evalúa cuál es la mejor jugada a partir de realizar seguidamente 3 turnos válidos</a:t>
            </a:r>
            <a:r>
              <a:rPr lang="en-US" altLang="es-MX"/>
              <a:t>.</a:t>
            </a:r>
            <a:r>
              <a:rPr lang="es-MX" altLang="en-US"/>
              <a:t> </a:t>
            </a:r>
            <a:endParaRPr lang="es-MX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s-MX"/>
              <a:t>O</a:t>
            </a:r>
            <a:r>
              <a:rPr lang="es-MX" altLang="en-US"/>
              <a:t>bserv</a:t>
            </a:r>
            <a:r>
              <a:rPr lang="en-US" altLang="es-MX"/>
              <a:t>a</a:t>
            </a:r>
            <a:r>
              <a:rPr lang="es-MX" altLang="en-US"/>
              <a:t> cu</a:t>
            </a:r>
            <a:r>
              <a:rPr lang="en-US" altLang="es-MX"/>
              <a:t>á</a:t>
            </a:r>
            <a:r>
              <a:rPr lang="es-MX" altLang="en-US"/>
              <a:t>l combinación deja en mejor lugar a su jugador en el tablón de posiciones del juego, buscando la mayor diferencia posible entre su puntuación y la del otro jugador. </a:t>
            </a:r>
            <a:endParaRPr lang="es-MX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altLang="en-US"/>
              <a:t>En caso de que no encuentre una secuencia de jugadas que lo favorezca, decide pasarse. </a:t>
            </a:r>
            <a:endParaRPr lang="es-MX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s-MX">
                <a:sym typeface="+mn-ea"/>
              </a:rPr>
              <a:t>A</a:t>
            </a:r>
            <a:r>
              <a:rPr lang="es-MX" altLang="en-US">
                <a:sym typeface="+mn-ea"/>
              </a:rPr>
              <a:t> lo largo del método</a:t>
            </a:r>
            <a:r>
              <a:rPr lang="en-US" altLang="es-MX">
                <a:sym typeface="+mn-ea"/>
              </a:rPr>
              <a:t> </a:t>
            </a:r>
            <a:r>
              <a:rPr lang="es-MX" altLang="en-US">
                <a:sym typeface="+mn-ea"/>
              </a:rPr>
              <a:t>aparecen</a:t>
            </a:r>
            <a:r>
              <a:rPr lang="en-US" altLang="es-MX">
                <a:sym typeface="+mn-ea"/>
              </a:rPr>
              <a:t> c</a:t>
            </a:r>
            <a:r>
              <a:rPr lang="es-MX" altLang="en-US"/>
              <a:t>ondicionales que </a:t>
            </a:r>
            <a:r>
              <a:rPr lang="en-US" altLang="es-MX"/>
              <a:t>buscan</a:t>
            </a:r>
            <a:r>
              <a:rPr lang="es-MX" altLang="en-US"/>
              <a:t> asegurar que la jugada realizada sea la más apropiada según la situación actual del juego y del jugador que representa.</a:t>
            </a:r>
            <a:endParaRPr lang="es-MX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s-MX"/>
              <a:t>Creación de cartas:</a:t>
            </a:r>
            <a:endParaRPr lang="en-U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47700" y="1584325"/>
            <a:ext cx="10515600" cy="4351338"/>
          </a:xfrm>
        </p:spPr>
        <p:txBody>
          <a:bodyPr>
            <a:normAutofit lnSpcReduction="10000"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MX"/>
              <a:t>Opciones disponibles:</a:t>
            </a:r>
            <a:endParaRPr lang="en-US" altLang="es-MX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s-MX"/>
              <a:t>Especificar la ruta donde se encontrarán los materiales necesarios.</a:t>
            </a:r>
            <a:endParaRPr lang="en-US" altLang="es-MX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s-MX"/>
              <a:t>Reutilizar efectos y cartas declarados previamente.</a:t>
            </a:r>
            <a:endParaRPr lang="en-US" altLang="es-MX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s-MX"/>
              <a:t>Borrar efectos y cartas anteriores.</a:t>
            </a:r>
            <a:endParaRPr lang="en-US" altLang="es-MX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s-MX"/>
              <a:t>Restablecer el mazo a su valor predeterminado.</a:t>
            </a:r>
            <a:endParaRPr lang="en-US" altLang="es-MX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s-MX"/>
              <a:t>Cargar archivos de texto desde una carpeta externa.</a:t>
            </a:r>
            <a:endParaRPr lang="en-US" altLang="es-MX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s-MX"/>
              <a:t>Programar nuevas cartas y efectos en la consola integrada.</a:t>
            </a:r>
            <a:endParaRPr lang="en-US" altLang="es-MX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MX"/>
              <a:t>Se restringió la posibilidad de declarar una nueva facción y crear un mazo para ella.</a:t>
            </a:r>
            <a:endParaRPr lang="en-US" altLang="es-MX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alt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7700" y="749300"/>
            <a:ext cx="10515600" cy="1325563"/>
          </a:xfrm>
        </p:spPr>
        <p:txBody>
          <a:bodyPr/>
          <a:p>
            <a:r>
              <a:rPr lang="en-US" altLang="es-MX"/>
              <a:t>Lexer:</a:t>
            </a:r>
            <a:endParaRPr lang="en-U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47700" y="2262505"/>
            <a:ext cx="10515600" cy="2860040"/>
          </a:xfrm>
        </p:spPr>
        <p:txBody>
          <a:bodyPr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altLang="en-US"/>
              <a:t>Recibe una cadena de texto de tipo string y la convierte en una lista de tokens. </a:t>
            </a:r>
            <a:endParaRPr lang="es-MX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altLang="en-US"/>
              <a:t>Realiza el análisis léxico de la entrada, revisando, entre otras cosas, si son válidos los caracteres recibidos. </a:t>
            </a:r>
            <a:endParaRPr lang="es-MX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s-MX"/>
              <a:t>Uso de </a:t>
            </a:r>
            <a:r>
              <a:rPr lang="es-MX" altLang="en-US"/>
              <a:t>expresiones regulares para reconocer los identificadores, números y símbolos. </a:t>
            </a:r>
            <a:endParaRPr lang="es-MX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s-MX"/>
              <a:t>Parser:</a:t>
            </a:r>
            <a:endParaRPr lang="en-U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altLang="en-US"/>
              <a:t>Recibe una lista de tokens y construye el árbol de sintaxis abstracta (AST) que representará el programa. </a:t>
            </a:r>
            <a:endParaRPr lang="es-MX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s-MX"/>
              <a:t>E</a:t>
            </a:r>
            <a:r>
              <a:rPr lang="es-MX" altLang="en-US"/>
              <a:t>structura recursiva descendente</a:t>
            </a:r>
            <a:r>
              <a:rPr lang="en-US" altLang="es-MX"/>
              <a:t>.</a:t>
            </a:r>
            <a:r>
              <a:rPr lang="es-MX" altLang="en-US"/>
              <a:t> </a:t>
            </a:r>
            <a:endParaRPr lang="es-MX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s-MX"/>
              <a:t>E</a:t>
            </a:r>
            <a:r>
              <a:rPr lang="es-MX" altLang="en-US"/>
              <a:t>ncargado del análisis sintáctico de la entrada, revisando la correcta estructuración del código. </a:t>
            </a:r>
            <a:endParaRPr lang="es-MX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s-MX"/>
              <a:t>S</a:t>
            </a:r>
            <a:r>
              <a:rPr lang="es-MX" altLang="en-US"/>
              <a:t>ecuencia de métodos que se encargan de ‘parsear’ todas las estructuras permitidas por el DSL y cuyo flujo está dirigido interiormente dentro de ellos</a:t>
            </a:r>
            <a:endParaRPr lang="es-MX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s-MX"/>
              <a:t>P</a:t>
            </a:r>
            <a:r>
              <a:rPr lang="es-MX" altLang="en-US"/>
              <a:t>arte de un método principal que genera solo cartas y efectos.</a:t>
            </a:r>
            <a:endParaRPr lang="es-MX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s-MX"/>
              <a:t>Nodos:</a:t>
            </a:r>
            <a:endParaRPr lang="en-US" altLang="es-MX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47700" y="1965960"/>
            <a:ext cx="10515600" cy="3897630"/>
          </a:xfrm>
        </p:spPr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altLang="en-US"/>
              <a:t>Desarrollados a partir de la interfaz ‘IStatement’</a:t>
            </a:r>
            <a:endParaRPr lang="es-MX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MX"/>
              <a:t>D</a:t>
            </a:r>
            <a:r>
              <a:rPr lang="es-MX" altLang="en-US"/>
              <a:t>os tipos: statements y expressions</a:t>
            </a:r>
            <a:r>
              <a:rPr lang="en-US" altLang="es-MX"/>
              <a:t>:</a:t>
            </a:r>
            <a:r>
              <a:rPr lang="es-MX" altLang="en-US"/>
              <a:t>  al evaluar los últimos esperamos el retorno de un valor. </a:t>
            </a:r>
            <a:endParaRPr lang="es-MX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MX"/>
              <a:t>Contiene</a:t>
            </a:r>
            <a:r>
              <a:rPr lang="es-MX" altLang="en-US"/>
              <a:t> los métodos pertinentes para el chequeo semántico y la evaluación dentro de cada nodo</a:t>
            </a:r>
            <a:endParaRPr lang="es-MX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MX"/>
              <a:t>N</a:t>
            </a:r>
            <a:r>
              <a:rPr lang="es-MX" altLang="en-US"/>
              <a:t>o pueden describirse solo como un almacén de información, sino como un organismo autónomo capaz de autorregularse dentro del programa.</a:t>
            </a:r>
            <a:endParaRPr lang="es-MX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7700" y="85725"/>
            <a:ext cx="10515600" cy="1325563"/>
          </a:xfrm>
        </p:spPr>
        <p:txBody>
          <a:bodyPr/>
          <a:p>
            <a:r>
              <a:rPr lang="es-MX" altLang="en-US"/>
              <a:t>Chequeo semántico y evaluación:</a:t>
            </a:r>
            <a:endParaRPr lang="es-MX" altLang="en-US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838200" y="1284605"/>
            <a:ext cx="10515600" cy="5238115"/>
          </a:xfrm>
        </p:spPr>
        <p:txBody>
          <a:bodyPr>
            <a:noAutofit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s-MX"/>
              <a:t>E</a:t>
            </a:r>
            <a:r>
              <a:rPr lang="es-MX" altLang="en-US"/>
              <a:t>fectuados a partir de llamados recursivos desde el nodo raíz, llamado Input. </a:t>
            </a:r>
            <a:endParaRPr lang="es-MX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MX" altLang="en-US"/>
              <a:t>Cada nodo del árbol construido llama al método consecuente de sus hijos y así sucesivamente. </a:t>
            </a:r>
            <a:endParaRPr lang="es-MX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s-MX"/>
              <a:t>I</a:t>
            </a:r>
            <a:r>
              <a:rPr lang="es-MX" altLang="en-US"/>
              <a:t>nteresa destacar</a:t>
            </a:r>
            <a:r>
              <a:rPr lang="en-US" altLang="es-MX"/>
              <a:t>:</a:t>
            </a:r>
            <a:endParaRPr lang="en-US" altLang="es-MX"/>
          </a:p>
          <a:p>
            <a:pPr marL="457200" indent="-457200" algn="just">
              <a:buFont typeface="Wingdings" panose="05000000000000000000" charset="0"/>
              <a:buChar char="ü"/>
            </a:pPr>
            <a:r>
              <a:rPr lang="en-US" altLang="es-MX" sz="2400"/>
              <a:t>E</a:t>
            </a:r>
            <a:r>
              <a:rPr lang="es-MX" altLang="en-US" sz="2400"/>
              <a:t>n el nodo efecto, el chequeo semántico se realiza antes que en el nodo carta, pues este lo hace visible al </a:t>
            </a:r>
            <a:r>
              <a:rPr lang="en-US" altLang="es-MX" sz="2400"/>
              <a:t>método</a:t>
            </a:r>
            <a:r>
              <a:rPr lang="es-MX" altLang="en-US" sz="2400"/>
              <a:t> del ultimo nodo mencionado</a:t>
            </a:r>
            <a:r>
              <a:rPr lang="en-US" altLang="es-MX" sz="2400"/>
              <a:t>.</a:t>
            </a:r>
            <a:endParaRPr lang="en-US" altLang="es-MX" sz="2400"/>
          </a:p>
          <a:p>
            <a:pPr marL="457200" indent="-457200" algn="just">
              <a:buFont typeface="Wingdings" panose="05000000000000000000" charset="0"/>
              <a:buChar char="ü"/>
            </a:pPr>
            <a:r>
              <a:rPr lang="en-US" altLang="es-MX" sz="2400"/>
              <a:t>En el nodo efecto </a:t>
            </a:r>
            <a:r>
              <a:rPr lang="es-MX" altLang="en-US" sz="2400"/>
              <a:t>la evaluación se realiza solo cuando la carta a la que está asociado sea jugada</a:t>
            </a:r>
            <a:r>
              <a:rPr lang="en-US" altLang="es-MX" sz="2400"/>
              <a:t>; y en caso de que </a:t>
            </a:r>
            <a:r>
              <a:rPr lang="es-MX" altLang="en-US" sz="2400">
                <a:sym typeface="+mn-ea"/>
              </a:rPr>
              <a:t>lance algún error inesperado o previamente advertido, la aplicación informará del fallo del efecto y continuará funcionando.</a:t>
            </a:r>
            <a:endParaRPr lang="es-MX" altLang="en-US" sz="2400"/>
          </a:p>
          <a:p>
            <a:pPr marL="457200" indent="-457200" algn="just">
              <a:buFont typeface="Wingdings" panose="05000000000000000000" charset="0"/>
              <a:buChar char="ü"/>
            </a:pPr>
            <a:r>
              <a:rPr lang="en-US" altLang="es-MX" sz="2400"/>
              <a:t>L</a:t>
            </a:r>
            <a:r>
              <a:rPr lang="es-MX" altLang="en-US" sz="2400"/>
              <a:t>a evaluación del nodo carta añade la carta obtenida a una lista estática de cartas propia de la clase a la que luego accede la clase principal ‘Interpreter’.</a:t>
            </a:r>
            <a:endParaRPr lang="es-MX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1860" y="1019810"/>
            <a:ext cx="10515600" cy="1325563"/>
          </a:xfrm>
        </p:spPr>
        <p:txBody>
          <a:bodyPr/>
          <a:p>
            <a:r>
              <a:rPr lang="en-US" altLang="es-MX">
                <a:sym typeface="+mn-ea"/>
              </a:rPr>
              <a:t>V</a:t>
            </a:r>
            <a:r>
              <a:rPr lang="es-MX" altLang="en-US">
                <a:sym typeface="+mn-ea"/>
              </a:rPr>
              <a:t>isualización de la carta creada</a:t>
            </a:r>
            <a:r>
              <a:rPr lang="en-US" altLang="es-MX">
                <a:sym typeface="+mn-ea"/>
              </a:rPr>
              <a:t>:</a:t>
            </a:r>
            <a:endParaRPr lang="en-US" altLang="es-MX">
              <a:sym typeface="+mn-ea"/>
            </a:endParaRP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911860" y="2586990"/>
            <a:ext cx="10515600" cy="2305685"/>
          </a:xfrm>
        </p:spPr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MX"/>
              <a:t>Uso de</a:t>
            </a:r>
            <a:r>
              <a:rPr lang="es-MX" altLang="en-US"/>
              <a:t> los datos introducidos por el usuario (nombre, descripción, facción, rango, poder y tipo) para </a:t>
            </a:r>
            <a:r>
              <a:rPr lang="en-US" altLang="es-MX"/>
              <a:t>conformar </a:t>
            </a:r>
            <a:r>
              <a:rPr lang="es-MX" altLang="en-US"/>
              <a:t>una imagen similar a la utilizada en las demás cartas del juego. </a:t>
            </a:r>
            <a:endParaRPr lang="es-MX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altLang="en-US"/>
              <a:t>De igual manera se mostrará la información ampliada al presionarla en el campo o darle doble click en la mano.</a:t>
            </a:r>
            <a:endParaRPr lang="es-MX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83310" y="2152015"/>
            <a:ext cx="10024745" cy="2553970"/>
          </a:xfrm>
        </p:spPr>
        <p:txBody>
          <a:bodyPr>
            <a:noAutofit/>
          </a:bodyPr>
          <a:p>
            <a:pPr algn="ctr"/>
            <a:r>
              <a:rPr lang="en-US" altLang="es-MX" sz="6000"/>
              <a:t>Gracias! </a:t>
            </a:r>
            <a:br>
              <a:rPr lang="en-US" altLang="es-MX" sz="6000"/>
            </a:br>
            <a:r>
              <a:rPr lang="en-US" altLang="es-MX" sz="6000"/>
              <a:t>Veamos un poco de código o juguemos :D</a:t>
            </a:r>
            <a:endParaRPr lang="en-US" altLang="es-MX"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4037</Words>
  <Application>WPS Presentation</Application>
  <PresentationFormat>宽屏</PresentationFormat>
  <Paragraphs>84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Times New Roman</vt:lpstr>
      <vt:lpstr>Wingdings</vt:lpstr>
      <vt:lpstr>Office Theme</vt:lpstr>
      <vt:lpstr>PowerPoint 演示文稿</vt:lpstr>
      <vt:lpstr>Ambientación: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Sebastian</cp:lastModifiedBy>
  <cp:revision>5</cp:revision>
  <dcterms:created xsi:type="dcterms:W3CDTF">2024-09-10T00:50:09Z</dcterms:created>
  <dcterms:modified xsi:type="dcterms:W3CDTF">2024-09-10T01:37:48Z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2058-12.2.0.13472</vt:lpwstr>
  </property>
  <property fmtid="{D5CDD505-2E9C-101B-9397-08002B2CF9AE}" pid="3" name="ICV">
    <vt:lpwstr>77035D5CA2A84C139946C73C341C783D_11</vt:lpwstr>
  </property>
</Properties>
</file>